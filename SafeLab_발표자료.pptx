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216" y="312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presProps" Target="presProps.xml"  /><Relationship Id="rId17" Type="http://schemas.openxmlformats.org/officeDocument/2006/relationships/viewProps" Target="viewProps.xml"  /><Relationship Id="rId18" Type="http://schemas.openxmlformats.org/officeDocument/2006/relationships/theme" Target="theme/theme1.xml"  /><Relationship Id="rId19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5282F153-3F37-0F45-9E97-73ACFA13230C}" type="datetime1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6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7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8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9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0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2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3.xml" 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3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4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5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6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7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8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9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0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1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2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3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6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0"/>
            <a:ext cx="612648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4864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🛡️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SafeLab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인하공전 연구실 안전 통합 플랫폼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383280"/>
            <a:ext cx="45720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5661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「연구실안전공제」 약관 기반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시나리오 + 학과 단체가입 연계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0" y="9144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학교 경진대회 출품작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1371600"/>
            <a:ext cx="548640" cy="54864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64592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팀 인슈어테크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400800" y="22860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이예진 · 지윤석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0" y="3383280"/>
            <a:ext cx="5303520" cy="2651760"/>
          </a:xfrm>
          <a:prstGeom prst="roundRect">
            <a:avLst>
              <a:gd name="adj" fmla="val 5172"/>
            </a:avLst>
          </a:prstGeom>
          <a:solidFill>
            <a:srgbClr val="FCF6F5"/>
          </a:solidFill>
          <a:ln w="12700">
            <a:solidFill>
              <a:srgbClr val="FFE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0" y="3611880"/>
            <a:ext cx="365760" cy="4572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37033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CONCEPT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75120" y="4023360"/>
            <a:ext cx="4754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형식적 안전교육을
</a:t>
            </a:r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학과 단위 </a:t>
            </a:r>
            <a:pPr indent="0" marL="0">
              <a:buNone/>
            </a:pPr>
            <a:r>
              <a:rPr lang="en-US" sz="2200" b="1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시나리오 + 약관 퀴즈</a:t>
            </a:r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로
</a:t>
            </a:r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실효성 있게 — </a:t>
            </a:r>
            <a:pPr indent="0" marL="0">
              <a:buNone/>
            </a:pPr>
            <a:r>
              <a:rPr lang="en-US" sz="2200" b="1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단체공제 가입까지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75120" y="57150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2026.05.02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2">
    <p:bg>
      <p:bgPr shadeToTitle="0"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SafeLab · 인슈어테크 · 2026 인하공전 경진대회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매학기 안전교육,
</a:t>
            </a:r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왜 </a:t>
            </a:r>
            <a:pPr indent="0" marL="0">
              <a:buNone/>
            </a:pPr>
            <a:r>
              <a:rPr lang="en-US" sz="3800" b="1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실효성</a:t>
            </a:r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 없는가?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3611880" cy="365760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468880"/>
            <a:ext cx="3611880" cy="73152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97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822960" y="3337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PPT 클릭 한 번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22960" y="393192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몇십 장짜리 슬라이드 자동재생, 그냥 다른 작업 하면서 시간 떼우기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43400" y="2468880"/>
            <a:ext cx="3611880" cy="365760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43400" y="2468880"/>
            <a:ext cx="3611880" cy="73152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2697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617720" y="3337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학과 무관 일반론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617720" y="393192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화공·기계·전기 어느 학과든 똑같은 자료. 본인 실험실 위험은 안 다룸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38160" y="2468880"/>
            <a:ext cx="3611880" cy="365760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38160" y="2468880"/>
            <a:ext cx="3611880" cy="73152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2697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412480" y="3337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사고 시 행동 모름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412480" y="393192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 끝나도 정작 사고 발생 시 119 외에 누구에게 어떻게 알릴지 막막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SafeLab · 인슈어테크 · 2026 인하공전 경진대회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학과별 </a:t>
            </a:r>
            <a:pPr indent="0" marL="0">
              <a:buNone/>
            </a:pPr>
            <a:r>
              <a:rPr lang="en-US" sz="3800" b="1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시나리오</a:t>
            </a:r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+
</a:t>
            </a:r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약관 기반 퀴즈 → </a:t>
            </a:r>
            <a:pPr indent="0" marL="0">
              <a:buNone/>
            </a:pPr>
            <a:r>
              <a:rPr lang="en-US" sz="3800" b="1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단체가입 연계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2606040" cy="32004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25880" y="2971800"/>
            <a:ext cx="1051560" cy="1051560"/>
          </a:xfrm>
          <a:prstGeom prst="ellipse">
            <a:avLst/>
          </a:prstGeom>
          <a:solidFill>
            <a:srgbClr val="FFE5E5"/>
          </a:solidFill>
          <a:ln w="12700">
            <a:solidFill>
              <a:srgbClr val="FF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29718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🎯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31520" y="4160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434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학과 선택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49377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화공·기계·전기·컴공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맞춤 시나리오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54680" y="41605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0000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383280" y="2743200"/>
            <a:ext cx="2606040" cy="32004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60520" y="2971800"/>
            <a:ext cx="1051560" cy="1051560"/>
          </a:xfrm>
          <a:prstGeom prst="ellipse">
            <a:avLst/>
          </a:prstGeom>
          <a:solidFill>
            <a:srgbClr val="FFE5E5"/>
          </a:solidFill>
          <a:ln w="12700">
            <a:solidFill>
              <a:srgbClr val="FFE5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0520" y="29718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🤖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566160" y="4160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66160" y="4434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1인칭 체험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566160" y="49377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Gemini가 사고 4단계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선택지·피드백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89320" y="41605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0000"/>
                </a:solidFill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217920" y="2743200"/>
            <a:ext cx="2606040" cy="32004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95160" y="2971800"/>
            <a:ext cx="1051560" cy="1051560"/>
          </a:xfrm>
          <a:prstGeom prst="ellipse">
            <a:avLst/>
          </a:prstGeom>
          <a:solidFill>
            <a:srgbClr val="FFE5E5"/>
          </a:solidFill>
          <a:ln w="12700">
            <a:solidFill>
              <a:srgbClr val="FFE5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95160" y="29718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📖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6400800" y="4160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4434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약관 퀴즈 5문항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400800" y="49377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보장범위/제외사유/장해등급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4개 이상 정답 시 이수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823960" y="41605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0000"/>
                </a:solidFill>
              </a:rPr>
              <a:t>→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9052560" y="2743200"/>
            <a:ext cx="2606040" cy="32004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829800" y="2971800"/>
            <a:ext cx="1051560" cy="1051560"/>
          </a:xfrm>
          <a:prstGeom prst="ellipse">
            <a:avLst/>
          </a:prstGeom>
          <a:solidFill>
            <a:srgbClr val="FFE5E5"/>
          </a:solidFill>
          <a:ln w="12700">
            <a:solidFill>
              <a:srgbClr val="FFE5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29800" y="29718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📜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9235440" y="4160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235440" y="4434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이수증 + 단체가입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9235440" y="49377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학과 이수율 도달 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공제 가입 트리거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5303520" cy="685800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DIFFERENTIATOR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임의 보험이 아니라
</a:t>
            </a:r>
            <a:pPr indent="0" marL="0">
              <a:buNone/>
            </a:pPr>
            <a:r>
              <a:rPr lang="en-US" sz="3600" b="1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법정 의무공제</a:t>
            </a:r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위에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6126480" cy="3108960"/>
          </a:xfrm>
          <a:prstGeom prst="roundRect">
            <a:avLst>
              <a:gd name="adj" fmla="val 4412"/>
            </a:avLst>
          </a:prstGeom>
          <a:solidFill>
            <a:srgbClr val="2A0A0A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291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근거 법령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36118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「연구실 안전환경 조성에 관한 법률」 제26조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41605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"연구주체의 장은 연구활동종사자의 사고에 대비하여 </a:t>
            </a:r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보험에 가입하여야 한다</a:t>
            </a:r>
            <a:pPr indent="0" marL="0">
              <a:buNone/>
            </a:pPr>
            <a:r>
              <a:rPr lang="en-US" sz="13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50749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모든 공대 학과는 「연구실안전공제」 의무 가입 대상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54406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SafeLab은 이 위에 「교육 + 단체가입 + 사고대응」 부가가치 레이어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58064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학교는 실효성, 보험사는 손해율 절감 — 양쪽 동기 일치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32320" y="914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운영기관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32320" y="12801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한국교육시설안전원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132320" y="1965960"/>
            <a:ext cx="54864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0" y="22402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계약자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0" y="25146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연구주체의 장 (학과/학교)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32320" y="30175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피공제자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0" y="32918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연구활동종사자 (학생·연구원)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32320" y="37947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단체 가입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32320" y="40690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학과 전체인원 → 신입생 자동 담보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32320" y="45720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보장 항목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32320" y="48463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요양·장해·유족·장의·입원급여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32320" y="53492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특약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32320" y="56235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등록금 손실 / 화상 / 간병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SafeLab · 인슈어테크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SafeLab · 인슈어테크 · 2026 인하공전 경진대회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진입 흐름 — 관리자 / 학생 분기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937760" y="2103120"/>
            <a:ext cx="2286000" cy="1097280"/>
          </a:xfrm>
          <a:prstGeom prst="roundRect">
            <a:avLst>
              <a:gd name="adj" fmla="val 10000"/>
            </a:avLst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EntryPage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/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2651760"/>
            <a:ext cx="-1371600" cy="822960"/>
          </a:xfrm>
          <a:prstGeom prst="line">
            <a:avLst/>
          </a:prstGeom>
          <a:noFill/>
          <a:ln w="25400">
            <a:solidFill>
              <a:srgbClr val="E6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566160"/>
            <a:ext cx="32004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3566160"/>
            <a:ext cx="3200400" cy="73152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🧑‍💼 관리자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420624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/admin/login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└ admin / admin1234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/admin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└ KPI · 학과 이수율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└ 사고 분포 · 미이수자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23760" y="2651760"/>
            <a:ext cx="1371600" cy="822960"/>
          </a:xfrm>
          <a:prstGeom prst="line">
            <a:avLst/>
          </a:prstGeom>
          <a:noFill/>
          <a:ln w="25400">
            <a:solidFill>
              <a:srgbClr val="E6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3566160"/>
            <a:ext cx="32004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0" y="3566160"/>
            <a:ext cx="3200400" cy="73152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🎓 학생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0" y="420624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/student/department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└ 학과 4개 + 학번/이름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/safety/:dept/scenario → quiz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└ AI 시나리오 → 퀴즈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└ 이수증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0" y="6126480"/>
            <a:ext cx="4846320" cy="502920"/>
          </a:xfrm>
          <a:prstGeom prst="roundRect">
            <a:avLst>
              <a:gd name="adj" fmla="val 18182"/>
            </a:avLst>
          </a:prstGeom>
          <a:solidFill>
            <a:srgbClr val="FFE5E5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61264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 </a:t>
            </a:r>
            <a:pPr algn="ctr" indent="0" marL="0">
              <a:buNone/>
            </a:pPr>
            <a:r>
              <a:rPr lang="en-US" sz="130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긴급 FAB → /emergency  </a:t>
            </a:r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보험과 분리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SafeLab · 인슈어테크 · 2026 인하공전 경진대회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STUDENT FLOW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학생 화면 — 진입부터 이수증까지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2148840" cy="4023360"/>
          </a:xfrm>
          <a:prstGeom prst="roundRect">
            <a:avLst>
              <a:gd name="adj" fmla="val 8511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828800"/>
            <a:ext cx="1965960" cy="374904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828800"/>
            <a:ext cx="1965960" cy="50292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87452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31520" y="20574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진입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2468880"/>
            <a:ext cx="1783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SafeLab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학생으로 진입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🧑‍💼 관리자로 진입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긴급 연락처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58521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관리자/학생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분기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88920" y="35204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0000"/>
                </a:solidFill>
              </a:rPr>
              <a:t>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971800" y="1691640"/>
            <a:ext cx="2148840" cy="4023360"/>
          </a:xfrm>
          <a:prstGeom prst="roundRect">
            <a:avLst>
              <a:gd name="adj" fmla="val 8511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63240" y="1828800"/>
            <a:ext cx="1965960" cy="374904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63240" y="1828800"/>
            <a:ext cx="1965960" cy="50292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63240" y="187452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063240" y="20574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학과 선택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154680" y="2468880"/>
            <a:ext cx="1783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이름·학번 입력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 화공환경과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기계과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전기정보과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컴퓨터정보과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971800" y="58521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학과별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맞춤화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20640" y="35204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0000"/>
                </a:solidFill>
              </a:rPr>
              <a:t>▶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303520" y="1691640"/>
            <a:ext cx="2148840" cy="4023360"/>
          </a:xfrm>
          <a:prstGeom prst="roundRect">
            <a:avLst>
              <a:gd name="adj" fmla="val 8511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94960" y="1828800"/>
            <a:ext cx="1965960" cy="374904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94960" y="1828800"/>
            <a:ext cx="1965960" cy="50292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0" y="187452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394960" y="20574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시나리오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0" y="2468880"/>
            <a:ext cx="1783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 사고 발생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"황산이 손등에…"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실험 마무리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즉시 세척 ✓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연고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03520" y="58521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1인칭 4단계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52360" y="35204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0000"/>
                </a:solidFill>
              </a:rPr>
              <a:t>▶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635240" y="1691640"/>
            <a:ext cx="2148840" cy="4023360"/>
          </a:xfrm>
          <a:prstGeom prst="roundRect">
            <a:avLst>
              <a:gd name="adj" fmla="val 8511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26680" y="1828800"/>
            <a:ext cx="1965960" cy="374904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26680" y="1828800"/>
            <a:ext cx="1965960" cy="50292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26680" y="187452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726680" y="20574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약관 퀴즈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818120" y="2468880"/>
            <a:ext cx="1783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 보상되는?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 통지의무?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Q3. 등급?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 ✓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이수 완료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635240" y="58521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5문항 4↑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784080" y="35204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0000"/>
                </a:solidFill>
              </a:rPr>
              <a:t>▶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9966960" y="1691640"/>
            <a:ext cx="2148840" cy="4023360"/>
          </a:xfrm>
          <a:prstGeom prst="roundRect">
            <a:avLst>
              <a:gd name="adj" fmla="val 8511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058400" y="1828800"/>
            <a:ext cx="1965960" cy="374904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058400" y="1828800"/>
            <a:ext cx="1965960" cy="50292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058400" y="187452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5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0058400" y="20574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이수증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149840" y="2468880"/>
            <a:ext cx="1783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안전교육 이수증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이름 ○○○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학과 화공환경과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발급 IHC-CHEM-2026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🖨️ 인쇄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966960" y="58521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인쇄/PDF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SafeLab · 인슈어테크 · 2026 인하공전 경진대회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INSIDE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Gemini가 약관을 보고 시나리오를 만든다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4846320" cy="4297680"/>
          </a:xfrm>
          <a:prstGeom prst="roundRect">
            <a:avLst>
              <a:gd name="adj" fmla="val 3191"/>
            </a:avLst>
          </a:prstGeom>
          <a:solidFill>
            <a:srgbClr val="FCF6F5"/>
          </a:solidFill>
          <a:ln w="12700">
            <a:solidFill>
              <a:srgbClr val="FFE5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📖 약관 컨텍스트 주입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331720"/>
            <a:ext cx="45720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제3조 보상하는 손해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연구활동 중 상해·질병 — 과실 무관 보상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유독가스 흡입·중독 포함</a:t>
            </a:r>
            <a:endParaRPr lang="en-US" sz="1300" dirty="0"/>
          </a:p>
          <a:p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제10조 보상하지 않는 손해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고의·자해·범죄, 임신·출산·전쟁 등</a:t>
            </a:r>
            <a:endParaRPr lang="en-US" sz="1300" dirty="0"/>
          </a:p>
          <a:p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제11조 통지 의무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사고 인지 즉시 안전원 통지</a:t>
            </a:r>
            <a:endParaRPr lang="en-US" sz="1300" dirty="0"/>
          </a:p>
          <a:p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별표1 후유장해 14급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1급 2억원 ~ 14급 차등 — 절단·시력·청력·신경계</a:t>
            </a:r>
            <a:endParaRPr lang="en-US" sz="1300" dirty="0"/>
          </a:p>
          <a:p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단체계약 특약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학과 전체 가입 → 신입생 자동 담보</a:t>
            </a:r>
            <a:endParaRPr lang="en-US" sz="1300" dirty="0"/>
          </a:p>
          <a:p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특약 — 등록금 손실 / 화상 / 간병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15일↑ 입원 시 100만원, 화상 40~100%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4068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0000"/>
                </a:solidFill>
              </a:rPr>
              <a:t>→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6126480" y="1828800"/>
            <a:ext cx="5486400" cy="42976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1828800"/>
            <a:ext cx="5486400" cy="41148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1874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🤖 Gemini 생성 — 강산 피부 접촉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55080" y="2423160"/>
            <a:ext cx="1280160" cy="320040"/>
          </a:xfrm>
          <a:prstGeom prst="roundRect">
            <a:avLst>
              <a:gd name="adj" fmla="val 28571"/>
            </a:avLst>
          </a:prstGeom>
          <a:solidFill>
            <a:srgbClr val="FFE5E5"/>
          </a:solidFill>
          <a:ln w="12700">
            <a:solidFill>
              <a:srgbClr val="FFE5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2423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사고 발생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55080" y="28803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"황산이 손등에 한 방울 튀었습니다.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손등이 따끔거리고 빨갛게 변하기 시작합니다."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55080" y="3703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Q. 가장 먼저 해야 할 행동은?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55080" y="4160520"/>
            <a:ext cx="512064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41605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 실험을 마저 끝낸다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55080" y="4663440"/>
            <a:ext cx="5120640" cy="411480"/>
          </a:xfrm>
          <a:prstGeom prst="roundRect">
            <a:avLst>
              <a:gd name="adj" fmla="val 17778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46634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 15분 이상 흐르는 물에 세척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0" y="46634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803D"/>
                </a:solidFill>
              </a:rPr>
              <a:t>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355080" y="5166360"/>
            <a:ext cx="512064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51663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 연고를 바른다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SafeLab · 인슈어테크 · 2026 인하공전 경진대회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 BY DEPARTMENT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학과별 시나리오 — 약관 보장 항목과 1:1 매핑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486400" cy="2148840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691640"/>
            <a:ext cx="109728" cy="214884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965960"/>
            <a:ext cx="777240" cy="777240"/>
          </a:xfrm>
          <a:prstGeom prst="ellipse">
            <a:avLst/>
          </a:prstGeom>
          <a:solidFill>
            <a:srgbClr val="FFE5E5"/>
          </a:solidFill>
          <a:ln w="12700">
            <a:solidFill>
              <a:srgbClr val="FFE5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965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🧪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783080" y="1965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화공환경과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83080" y="2377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#화상  #중독  #누출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28346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
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황산 피부 접촉 사고
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유독가스 누출 (드래프트 고장)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3474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제3조 ② 유독가스 흡입 중독 + 화상 특약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691640"/>
            <a:ext cx="5486400" cy="2148840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691640"/>
            <a:ext cx="109728" cy="214884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37960" y="1965960"/>
            <a:ext cx="777240" cy="777240"/>
          </a:xfrm>
          <a:prstGeom prst="ellipse">
            <a:avLst/>
          </a:prstGeom>
          <a:solidFill>
            <a:srgbClr val="FFE5E5"/>
          </a:solidFill>
          <a:ln w="12700">
            <a:solidFill>
              <a:srgbClr val="FFE5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1965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452360" y="1965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기계과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452360" y="2377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#끼임  #절단  #안구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83680" y="28346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
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선반 작업 중 옷자락 끼임
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그라인더 파편 안구 비산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583680" y="3474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별표1 1~3급 (상지 절단·시력 상실)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023360"/>
            <a:ext cx="5486400" cy="2148840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4023360"/>
            <a:ext cx="109728" cy="214884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4297680"/>
            <a:ext cx="777240" cy="777240"/>
          </a:xfrm>
          <a:prstGeom prst="ellipse">
            <a:avLst/>
          </a:prstGeom>
          <a:solidFill>
            <a:srgbClr val="FFE5E5"/>
          </a:solidFill>
          <a:ln w="12700">
            <a:solidFill>
              <a:srgbClr val="FFE5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297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1783080" y="42976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전기정보과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783080" y="4709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#감전  #화재  #아크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14400" y="51663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
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배전반 작업 중 감전
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분전반 합선 화재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14400" y="5806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별표1 신경계 장해 + 중대 화상 특약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4023360"/>
            <a:ext cx="5486400" cy="2148840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17920" y="4023360"/>
            <a:ext cx="109728" cy="214884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37960" y="4297680"/>
            <a:ext cx="777240" cy="777240"/>
          </a:xfrm>
          <a:prstGeom prst="ellipse">
            <a:avLst/>
          </a:prstGeom>
          <a:solidFill>
            <a:srgbClr val="FFE5E5"/>
          </a:solidFill>
          <a:ln w="12700">
            <a:solidFill>
              <a:srgbClr val="FFE5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4297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💻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7452360" y="42976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컴퓨터정보과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452360" y="4709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#화재  #응급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583680" y="51663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
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서버실 UPS 발열 화재
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밤샘 작업 중 의식 저하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583680" y="5806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제3조 보상 + 화상 특약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SafeLab · 인슈어테크 · 2026 인하공전 경진대회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 DASHBOARD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관리자 — 이수 현황 + 안전 대시보드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737360"/>
            <a:ext cx="2697480" cy="64008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74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전체 이수율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378 / 412명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0" y="173736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1737360"/>
            <a:ext cx="26974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1874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미이수자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66160" y="21945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121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3566160" y="28346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개별 추적 가능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73736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737360"/>
            <a:ext cx="2697480" cy="64008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874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완료 시나리오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21945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1,284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400800" y="28346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학기 누적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052560" y="173736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52560" y="1737360"/>
            <a:ext cx="2697480" cy="64008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0" y="1874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7일 사고신고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235440" y="21945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3건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9235440" y="28346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안전원 통지 완료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3337560"/>
            <a:ext cx="557784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3520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학과별 이수 현황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77240" y="3977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화공환경과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377440" y="4023360"/>
            <a:ext cx="2926080" cy="18288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77440" y="4023360"/>
            <a:ext cx="2223821" cy="182880"/>
          </a:xfrm>
          <a:prstGeom prst="roundRect">
            <a:avLst>
              <a:gd name="adj" fmla="val 50000"/>
            </a:avLst>
          </a:prstGeom>
          <a:solidFill>
            <a:srgbClr val="B3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94960" y="3977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76%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77240" y="4480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기계과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377440" y="4526280"/>
            <a:ext cx="2926080" cy="18288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77440" y="4526280"/>
            <a:ext cx="1755648" cy="182880"/>
          </a:xfrm>
          <a:prstGeom prst="roundRect">
            <a:avLst>
              <a:gd name="adj" fmla="val 50000"/>
            </a:avLst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94960" y="44805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60%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77240" y="4983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전기정보과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377440" y="5029200"/>
            <a:ext cx="2926080" cy="18288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77440" y="5029200"/>
            <a:ext cx="2136038" cy="182880"/>
          </a:xfrm>
          <a:prstGeom prst="roundRect">
            <a:avLst>
              <a:gd name="adj" fmla="val 50000"/>
            </a:avLst>
          </a:prstGeom>
          <a:solidFill>
            <a:srgbClr val="B3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94960" y="4983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73%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77240" y="5486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컴퓨터정보과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377440" y="5532120"/>
            <a:ext cx="2926080" cy="18288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377440" y="5532120"/>
            <a:ext cx="1901952" cy="182880"/>
          </a:xfrm>
          <a:prstGeom prst="roundRect">
            <a:avLst>
              <a:gd name="adj" fmla="val 50000"/>
            </a:avLst>
          </a:prstGeom>
          <a:solidFill>
            <a:srgbClr val="B3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94960" y="54864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65%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77240" y="58978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기계과 이수율 60% — 마감 D-18 안내메일 발송 권장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309360" y="3337560"/>
            <a:ext cx="530352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37960" y="35204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사고 유형 분포 (학기 누적 18건)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537960" y="4023360"/>
            <a:ext cx="1920240" cy="41148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458200" y="4023360"/>
            <a:ext cx="137160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829800" y="4023360"/>
            <a:ext cx="822960" cy="411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652760" y="4023360"/>
            <a:ext cx="548640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201400" y="4023360"/>
            <a:ext cx="274320" cy="41148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537960" y="4709160"/>
            <a:ext cx="164592" cy="164592"/>
          </a:xfrm>
          <a:prstGeom prst="ellipse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12280" y="4663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화상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001000" y="46634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7건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9006840" y="470916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281160" y="4663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외상/절단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0469880" y="46634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5건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537960" y="5120640"/>
            <a:ext cx="164592" cy="1645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12280" y="5074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중독/흡입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8001000" y="5074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3건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9006840" y="5120640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281160" y="5074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감전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10469880" y="5074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2건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537960" y="5532120"/>
            <a:ext cx="164592" cy="16459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812280" y="5486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기타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8001000" y="54864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1건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SafeLab · 인슈어테크 · 2026 인하공전 경진대회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EMERGENCY · DECOUPLED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긴급 ≠ 보험
</a:t>
            </a:r>
            <a:pPr indent="0" marL="0">
              <a:buNone/>
            </a:pPr>
            <a:r>
              <a:rPr lang="en-US" sz="3000" b="1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먼저 사람을 구하고, 보험은 나중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5303520" cy="3657600"/>
          </a:xfrm>
          <a:prstGeom prst="roundRect">
            <a:avLst>
              <a:gd name="adj" fmla="val 375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651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2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이전 안전교육의 문제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3246120"/>
            <a:ext cx="292608" cy="292608"/>
          </a:xfrm>
          <a:prstGeom prst="ellipse">
            <a:avLst/>
          </a:prstGeom>
          <a:solidFill>
            <a:srgbClr val="FFE5E5"/>
          </a:solidFill>
          <a:ln w="12700">
            <a:solidFill>
              <a:srgbClr val="FFE5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246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0000"/>
                </a:solidFill>
              </a:rPr>
              <a:t>×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315468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사고 발생 시 누구에게? 어떻게?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3959352"/>
            <a:ext cx="292608" cy="292608"/>
          </a:xfrm>
          <a:prstGeom prst="ellipse">
            <a:avLst/>
          </a:prstGeom>
          <a:solidFill>
            <a:srgbClr val="FFE5E5"/>
          </a:solidFill>
          <a:ln w="12700">
            <a:solidFill>
              <a:srgbClr val="FF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959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0000"/>
                </a:solidFill>
              </a:rPr>
              <a:t>×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86791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보험 청구 페이지로 직결 → 골든타임 낭비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68680" y="4672584"/>
            <a:ext cx="292608" cy="292608"/>
          </a:xfrm>
          <a:prstGeom prst="ellipse">
            <a:avLst/>
          </a:prstGeom>
          <a:solidFill>
            <a:srgbClr val="FFE5E5"/>
          </a:solidFill>
          <a:ln w="12700">
            <a:solidFill>
              <a:srgbClr val="FFE5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672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0000"/>
                </a:solidFill>
              </a:rPr>
              <a:t>×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4581144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학과별 안전관리자 연락처 따로 찾아야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68680" y="5385816"/>
            <a:ext cx="292608" cy="292608"/>
          </a:xfrm>
          <a:prstGeom prst="ellipse">
            <a:avLst/>
          </a:prstGeom>
          <a:solidFill>
            <a:srgbClr val="FFE5E5"/>
          </a:solidFill>
          <a:ln w="12700">
            <a:solidFill>
              <a:srgbClr val="FFE5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5385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0000"/>
                </a:solidFill>
              </a:rPr>
              <a:t>×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5294376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약관상 통지의무(즉시) 모르고 지나침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309360" y="2468880"/>
            <a:ext cx="5303520" cy="36576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25400">
            <a:solidFill>
              <a:srgbClr val="E6000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37960" y="2651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SafeLab 방식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3796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040880" y="310896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전역 빨강 FAB 어디서나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040880" y="340156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학생/관리자 모든 화면 우하단 1탭 진입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3796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📞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040880" y="382219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학과별 + 공통 연락처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040880" y="411480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 → 학과 안전관리자 → 안전원 순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37960" y="4535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040880" y="453542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약관 통지의무 명시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040880" y="482803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"제11조 즉시 통지" 배너 상단 고정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37960" y="5248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🔀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040880" y="5248656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보험은 분리된 별도 모듈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040880" y="554126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/insurance/* 로 격리, 응급 흐름 방해 X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SafeLab · 인슈어테크 · 2026 인하공전 경진대회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 SYSTEM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빨강 + 화이트 모바일 카드 톤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96596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Primary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737360" y="2377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#E60000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78308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0" y="196596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B30000"/>
          </a:solidFill>
          <a:ln w="12700">
            <a:solidFill>
              <a:srgbClr val="B3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Primary Dark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80560" y="2377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#B30000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15468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33756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FFE5E5"/>
          </a:solidFill>
          <a:ln w="12700">
            <a:solidFill>
              <a:srgbClr val="FFE5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37360" y="3383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Primary Light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37360" y="3749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#FFE5E5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315468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333756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F5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3383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80560" y="3749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#F5F5F7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52628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470916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37360" y="4754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Text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737360" y="5120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#1A1A1A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91840" y="452628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0" y="470916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0560" y="4754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 Text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480560" y="5120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#6B7280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858000" y="1783080"/>
            <a:ext cx="4754880" cy="4572000"/>
          </a:xfrm>
          <a:prstGeom prst="roundRect">
            <a:avLst>
              <a:gd name="adj" fmla="val 5000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95160" y="1920240"/>
            <a:ext cx="4480560" cy="4297680"/>
          </a:xfrm>
          <a:prstGeom prst="roundRect">
            <a:avLst>
              <a:gd name="adj" fmla="val 3830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95160" y="1920240"/>
            <a:ext cx="4480560" cy="146304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78040" y="2194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SafeLab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178040" y="2697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인하공전 연구실 안전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178040" y="3474720"/>
            <a:ext cx="41148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0" y="3474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🎓 학생으로 진입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315200" y="37673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학과별 안전교육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698480" y="34747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0000"/>
                </a:solidFill>
              </a:rPr>
              <a:t>→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178040" y="4251960"/>
            <a:ext cx="41148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4251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🧑‍💼 관리자로 진입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315200" y="45445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이수 현황·대시보드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698480" y="42519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0000"/>
                </a:solidFill>
              </a:rPr>
              <a:t>→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178040" y="5029200"/>
            <a:ext cx="41148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5400">
            <a:solidFill>
              <a:srgbClr val="E6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0" y="5029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🚨 긴급 연락처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315200" y="53218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학과별 + 119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698480" y="50292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0000"/>
                </a:solidFill>
              </a:rPr>
              <a:t>→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858000" y="64922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Vodafone 풍 카드 + 한국형 안전 빨강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SafeLab · 인슈어테크 · 2026 인하공전 경진대회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 · TIMELINE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1주 안에 만든 데모 — 아키텍처 + 일정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486400" cy="42976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11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🛠️ Tech Stack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514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7614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· React Router v6 · Axios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081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33284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 1.5 Flash (mock fallback)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364845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38953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3 · Spring Security · JPA · H2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421538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Style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44622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Variables · 모바일 우선 480px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47823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데이터 소스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5029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「연구실안전공제」 약관 PDF (42p)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5349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재사용 인프라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55961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룰엔진 · Mail 모듈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9360" y="1828800"/>
            <a:ext cx="5486400" cy="42976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2011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📅 1주 일정 (D1~D7)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537960" y="2560320"/>
            <a:ext cx="274320" cy="274320"/>
          </a:xfrm>
          <a:prstGeom prst="ellipse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49440" y="2514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543800" y="2514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디자인 토큰 + 진입/긴급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37960" y="3063240"/>
            <a:ext cx="274320" cy="274320"/>
          </a:xfrm>
          <a:prstGeom prst="ellipse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49440" y="3017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543800" y="3017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학과 선택 + 안전교육 메인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537960" y="3566160"/>
            <a:ext cx="274320" cy="274320"/>
          </a:xfrm>
          <a:prstGeom prst="ellipse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49440" y="35204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D3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543800" y="3520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시나리오 (Gemini + mock)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537960" y="4069080"/>
            <a:ext cx="274320" cy="274320"/>
          </a:xfrm>
          <a:prstGeom prst="ellipse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37960" y="4069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49440" y="4023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D4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543800" y="4023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약관 퀴즈 + 이수증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537960" y="4572000"/>
            <a:ext cx="274320" cy="274320"/>
          </a:xfrm>
          <a:prstGeom prst="ellipse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37960" y="4572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949440" y="45262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D5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543800" y="4526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대시보드 + 백엔드 API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537960" y="5074920"/>
            <a:ext cx="274320" cy="274320"/>
          </a:xfrm>
          <a:prstGeom prst="ellipse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37960" y="5074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949440" y="5029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D6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543800" y="5029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백엔드 연동 + 통합 테스트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537960" y="5577840"/>
            <a:ext cx="274320" cy="274320"/>
          </a:xfrm>
          <a:prstGeom prst="ellipse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37960" y="5577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·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949440" y="5532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D7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543800" y="5532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발표자료·시연 리허설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6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FB3B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SAFELAB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실험실 안전을
</a:t>
            </a:r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학과의 일상으로.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548640" y="384048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4023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4526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법정 의무공제 위 부가가치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9834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「연구실안전공제」 약관과 1:1 매핑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384048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4023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617720" y="4526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시나리오로 실효성 회복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17720" y="49834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학과별 1인칭 체험 + 약관 퀴즈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384048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0" y="4023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412480" y="4526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학과 단위 단체가입 연계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12480" y="49834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이수율 도달 시 자동 가입 트리거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989320"/>
            <a:ext cx="73152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126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인슈어테크 · 이예진 · 지윤석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FF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인하공업전문대학 · 2026 학교 경진대회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0" y="61264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 &amp; A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PptxGenJS</ep:Company>
  <ep:Words>1017</ep:Words>
  <ep:PresentationFormat>On-screen Show (16:9)</ep:PresentationFormat>
  <ep:Paragraphs>362</ep:Paragraphs>
  <ep:Slides>13</ep:Slides>
  <ep:Notes>13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ep:HeadingPairs>
  <ep:TitlesOfParts>
    <vt:vector size="14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2026-05-01T22:56:25.000</dcterms:created>
  <dc:creator>인슈어테크</dc:creator>
  <cp:lastModifiedBy>user</cp:lastModifiedBy>
  <dcterms:modified xsi:type="dcterms:W3CDTF">2026-05-04T02:05:05.900</dcterms:modified>
  <cp:revision>3</cp:revision>
  <dc:subject>2026 학교 경진대회</dc:subject>
  <dc:title>SafeLab — 인하공전 연구실 안전 통합 플랫폼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